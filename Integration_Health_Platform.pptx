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Integration Health Monitoring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38BDF8"/>
                </a:solidFill>
                <a:latin typeface="Calibri"/>
              </a:rPr>
              <a:t>CoIF · Log Normalization · Incident Correlation · Evidence-Grounded RCA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00400" y="3520440"/>
            <a:ext cx="5760720" cy="0"/>
          </a:xfrm>
          <a:prstGeom prst="line">
            <a:avLst/>
          </a:prstGeom>
          <a:ln w="9525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474720" y="3749039"/>
            <a:ext cx="1280160" cy="34747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39" y="3785615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  <a:latin typeface="Calibri"/>
              </a:rPr>
              <a:t>L1 COMPLETE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0" y="3749039"/>
            <a:ext cx="1645920" cy="34747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59" y="3785615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  <a:latin typeface="Calibri"/>
              </a:rPr>
              <a:t>L2 STAGE 1+2 COMPLETE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3749039"/>
            <a:ext cx="1280160" cy="34747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3785615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  <a:latin typeface="Calibri"/>
              </a:rPr>
              <a:t>L3 DESIGNED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2179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NCG Hackathon · Integration Health Monitoring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Calibri"/>
              </a:rPr>
              <a:t>PART 1  · 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Enterprise Integration: A Visibility Blackhole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114300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  <a:latin typeface="Calibri"/>
              </a:rPr>
              <a:t>Build an AI-powered Integration Health Monitoring platform that ingests messy multi-format logs · presents a business-impact-weighted health map · detects failures &amp; anomalies · correlates events into incidents · explains root cause (chronic vs. event) with prescriptive remediation · predicts change/upgrade blast-radius before deployment.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468880"/>
            <a:ext cx="182880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8BDF8"/>
                </a:solidFill>
                <a:latin typeface="Calibri"/>
              </a:rPr>
              <a:t>SAP ERP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0" y="2468880"/>
            <a:ext cx="182880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0" y="25146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8BDF8"/>
                </a:solidFill>
                <a:latin typeface="Calibri"/>
              </a:rPr>
              <a:t>Kafka / ESB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2468880"/>
            <a:ext cx="182880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25146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8BDF8"/>
                </a:solidFill>
                <a:latin typeface="Calibri"/>
              </a:rPr>
              <a:t>Oracle SCM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43200" y="2766060"/>
            <a:ext cx="2560320" cy="0"/>
          </a:xfrm>
          <a:prstGeom prst="line">
            <a:avLst/>
          </a:prstGeom>
          <a:ln w="3175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132320" y="2766060"/>
            <a:ext cx="2011680" cy="0"/>
          </a:xfrm>
          <a:prstGeom prst="line">
            <a:avLst/>
          </a:prstGeom>
          <a:ln w="3175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56616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BBF24"/>
                </a:solidFill>
                <a:latin typeface="Calibri"/>
              </a:rPr>
              <a:t>⚠ Integration Failures Happen Here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337560"/>
            <a:ext cx="155448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374136"/>
            <a:ext cx="15179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Production Planning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828800" y="3063240"/>
            <a:ext cx="0" cy="448056"/>
          </a:xfrm>
          <a:prstGeom prst="line">
            <a:avLst/>
          </a:prstGeom>
          <a:ln w="317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40080" y="3840480"/>
            <a:ext cx="155448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877056"/>
            <a:ext cx="15179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Quality Management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828800" y="3063240"/>
            <a:ext cx="0" cy="950976"/>
          </a:xfrm>
          <a:prstGeom prst="line">
            <a:avLst/>
          </a:prstGeom>
          <a:ln w="317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9966960" y="3337560"/>
            <a:ext cx="155448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85248" y="3374136"/>
            <a:ext cx="15179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Supply Chain Mgmt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058400" y="3063240"/>
            <a:ext cx="0" cy="448056"/>
          </a:xfrm>
          <a:prstGeom prst="line">
            <a:avLst/>
          </a:prstGeom>
          <a:ln w="317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9966960" y="3840480"/>
            <a:ext cx="155448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85248" y="3877056"/>
            <a:ext cx="15179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Inventory Mgmt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058400" y="3063240"/>
            <a:ext cx="0" cy="950976"/>
          </a:xfrm>
          <a:prstGeom prst="line">
            <a:avLst/>
          </a:prstGeom>
          <a:ln w="317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828800" y="4434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4A3B8"/>
                </a:solidFill>
                <a:latin typeface="Calibri"/>
              </a:rPr>
              <a:t>Product Planning  →  SAP  →  Kafka  →  Oracle  →  Supply Chain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937760"/>
            <a:ext cx="256032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9834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1F5F9"/>
                </a:solidFill>
                <a:latin typeface="Calibri"/>
              </a:rPr>
              <a:t>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4406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1F5F9"/>
                </a:solidFill>
                <a:latin typeface="Calibri"/>
              </a:rPr>
              <a:t>Prioritize
by business impact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46120" y="4937760"/>
            <a:ext cx="256032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46120" y="49834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1F5F9"/>
                </a:solidFill>
                <a:latin typeface="Calibri"/>
              </a:rPr>
              <a:t>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46120" y="54406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1F5F9"/>
                </a:solidFill>
                <a:latin typeface="Calibri"/>
              </a:rPr>
              <a:t>Explain
Root cause in 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4937760"/>
            <a:ext cx="256032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0" y="49834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1F5F9"/>
                </a:solidFill>
                <a:latin typeface="Calibri"/>
              </a:rPr>
              <a:t>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54406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1F5F9"/>
                </a:solidFill>
                <a:latin typeface="Calibri"/>
              </a:rPr>
              <a:t>Prescribe
Fix to right queue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78240" y="4937760"/>
            <a:ext cx="256032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78240" y="49834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1F5F9"/>
                </a:solidFill>
                <a:latin typeface="Calibri"/>
              </a:rPr>
              <a:t>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0" y="54406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1F5F9"/>
                </a:solidFill>
                <a:latin typeface="Calibri"/>
              </a:rPr>
              <a:t>Predict
Blast-radius pre-deploy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Calibri"/>
              </a:rPr>
              <a:t>PART 2  ·  CONVERTING MESSY LOGS TO CONSISTENT EVENTS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Agentic Log Normalization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34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Calibri"/>
              </a:rPr>
              <a:t>HETEROGENEOUS 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600200"/>
            <a:ext cx="256032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62763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  <a:latin typeface="Calibri"/>
              </a:rPr>
              <a:t>SAP ERP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874519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Pipe-delimited text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286000"/>
            <a:ext cx="256032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31343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  <a:latin typeface="Calibri"/>
              </a:rPr>
              <a:t>Oracle SCM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56032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Nested JSON Lines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971800"/>
            <a:ext cx="256032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99923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  <a:latin typeface="Calibri"/>
              </a:rPr>
              <a:t>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24612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Key=Value Runtime Log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657600"/>
            <a:ext cx="256032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368503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  <a:latin typeface="Calibri"/>
              </a:rPr>
              <a:t>PLM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393192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XML Event Records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343400"/>
            <a:ext cx="256032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437083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  <a:latin typeface="Calibri"/>
              </a:rPr>
              <a:t>CRM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461772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Semicolon Audit Trail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029200"/>
            <a:ext cx="256032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505663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  <a:latin typeface="Calibri"/>
              </a:rPr>
              <a:t>HCM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530352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CSV (proprietary codes)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834640" y="1874519"/>
            <a:ext cx="731520" cy="1508761"/>
          </a:xfrm>
          <a:prstGeom prst="line">
            <a:avLst/>
          </a:prstGeom>
          <a:ln w="1905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34640" y="2560320"/>
            <a:ext cx="731520" cy="822960"/>
          </a:xfrm>
          <a:prstGeom prst="line">
            <a:avLst/>
          </a:prstGeom>
          <a:ln w="1905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834640" y="3246120"/>
            <a:ext cx="731520" cy="137160"/>
          </a:xfrm>
          <a:prstGeom prst="line">
            <a:avLst/>
          </a:prstGeom>
          <a:ln w="1905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834640" y="3383280"/>
            <a:ext cx="731520" cy="548640"/>
          </a:xfrm>
          <a:prstGeom prst="line">
            <a:avLst/>
          </a:prstGeom>
          <a:ln w="1905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2834640" y="3383280"/>
            <a:ext cx="731520" cy="1234440"/>
          </a:xfrm>
          <a:prstGeom prst="line">
            <a:avLst/>
          </a:prstGeom>
          <a:ln w="1905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2834640" y="3383280"/>
            <a:ext cx="731520" cy="1920240"/>
          </a:xfrm>
          <a:prstGeom prst="line">
            <a:avLst/>
          </a:prstGeom>
          <a:ln w="1905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566160" y="1234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Calibri"/>
              </a:rPr>
              <a:t>AGENTIC ORCHESTRATOR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66160" y="1600200"/>
            <a:ext cx="484632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0" y="171907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Calibri"/>
              </a:rPr>
              <a:t>1  Extract Schema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989320" y="2194560"/>
            <a:ext cx="0" cy="210312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3566160" y="2404872"/>
            <a:ext cx="484632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0" y="252374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Calibri"/>
              </a:rPr>
              <a:t>2  Sample Records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989320" y="2999232"/>
            <a:ext cx="0" cy="210312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3566160" y="3209544"/>
            <a:ext cx="484632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0" y="3328415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D4BF"/>
                </a:solidFill>
                <a:latin typeface="Calibri"/>
              </a:rPr>
              <a:t>3  LLM → Semantic Mapping + Code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989320" y="3803904"/>
            <a:ext cx="0" cy="210311"/>
          </a:xfrm>
          <a:prstGeom prst="line">
            <a:avLst/>
          </a:prstGeom>
          <a:ln w="254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3566160" y="4014216"/>
            <a:ext cx="484632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0" y="413308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D4BF"/>
                </a:solidFill>
                <a:latin typeface="Calibri"/>
              </a:rPr>
              <a:t>4  Execute in Sandbox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989320" y="4608576"/>
            <a:ext cx="0" cy="210312"/>
          </a:xfrm>
          <a:prstGeom prst="line">
            <a:avLst/>
          </a:prstGeom>
          <a:ln w="254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3566160" y="4818888"/>
            <a:ext cx="484632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0" y="4937759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DE80"/>
                </a:solidFill>
                <a:latin typeface="Calibri"/>
              </a:rPr>
              <a:t>5  Validate 14-col Contract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412480" y="2286000"/>
            <a:ext cx="640080" cy="1371600"/>
          </a:xfrm>
          <a:prstGeom prst="line">
            <a:avLst/>
          </a:prstGeom>
          <a:ln w="19050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412480" y="3090672"/>
            <a:ext cx="640080" cy="566928"/>
          </a:xfrm>
          <a:prstGeom prst="line">
            <a:avLst/>
          </a:prstGeom>
          <a:ln w="19050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8412480" y="3657600"/>
            <a:ext cx="640080" cy="237744"/>
          </a:xfrm>
          <a:prstGeom prst="line">
            <a:avLst/>
          </a:prstGeom>
          <a:ln w="19050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9052560" y="1234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DE80"/>
                </a:solidFill>
                <a:latin typeface="Calibri"/>
              </a:rPr>
              <a:t>NORMALIZED SCHEMA (14 cols)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0" y="1600200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DE80"/>
                </a:solidFill>
                <a:latin typeface="Calibri"/>
              </a:rPr>
              <a:t>• EventID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0" y="1920240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DE80"/>
                </a:solidFill>
                <a:latin typeface="Calibri"/>
              </a:rPr>
              <a:t>• InterfaceID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0" y="2240280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DE80"/>
                </a:solidFill>
                <a:latin typeface="Calibri"/>
              </a:rPr>
              <a:t>• SourceSystem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0" y="2560320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DE80"/>
                </a:solidFill>
                <a:latin typeface="Calibri"/>
              </a:rPr>
              <a:t>• TargetSystem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0" y="2880360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DE80"/>
                </a:solidFill>
                <a:latin typeface="Calibri"/>
              </a:rPr>
              <a:t>• Middleware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0" y="3200400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DE80"/>
                </a:solidFill>
                <a:latin typeface="Calibri"/>
              </a:rPr>
              <a:t>• Pattern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0" y="3520439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DE80"/>
                </a:solidFill>
                <a:latin typeface="Calibri"/>
              </a:rPr>
              <a:t>• Status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0" y="3840479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• ErrorCode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44000" y="4160520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• ErrorText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0" y="4480560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• RootCauseClass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44000" y="4800600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• Latency_ms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44000" y="5120640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• SessionID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44000" y="5440679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• RequestID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44000" y="5760720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• Timestamp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Calibri"/>
              </a:rPr>
              <a:t>PART 3  ·  COST OF INTEGRATION FAILURE  (CoIF)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Quantifying Business Impact — Not Raw Failure Count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11430000" cy="1005840"/>
          </a:xfrm>
          <a:prstGeom prst="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8BDF8"/>
                </a:solidFill>
                <a:latin typeface="Calibri"/>
              </a:rPr>
              <a:t>CoIF  =  Failure Signal  ×  Priority Weight  ×  Process Weight  ×  Cost Multiplier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Each event gets a CoIF score  ·  TotalCoIF per interface = SUM of all event scores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331720"/>
            <a:ext cx="278892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  <a:latin typeface="Calibri"/>
              </a:rPr>
              <a:t>Failure 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88920"/>
            <a:ext cx="2606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Failed = 1.0
Retry = 0.3
Warning = 0.5
Success = 0.0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2331720"/>
            <a:ext cx="278892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237744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Calibri"/>
              </a:rPr>
              <a:t>Priority Weight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788920"/>
            <a:ext cx="2606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Critical = 100
High = 60
Elevated = 25
Normal = 5 · Low =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331720"/>
            <a:ext cx="278892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37744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D4BF"/>
                </a:solidFill>
                <a:latin typeface="Calibri"/>
              </a:rPr>
              <a:t>Process Weight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788920"/>
            <a:ext cx="2606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Goods Receipt = 100
Incident Sync = 15
Demand Sync = 20
(from piw table)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81160" y="2331720"/>
            <a:ext cx="278892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72600" y="237744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Calibri"/>
              </a:rPr>
              <a:t>Cost Multiplier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2788920"/>
            <a:ext cx="2606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Month-End Close = 3.0×
Quarter-End Close = 2.0×
Normal = 1.0×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480560"/>
            <a:ext cx="11430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Example:  FAILED event · Critical Interface · Payment Process · During Month-End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81888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DE80"/>
                </a:solidFill>
                <a:latin typeface="Calibri"/>
              </a:rPr>
              <a:t>CoIF  =  1.0  ×  100  ×  90  ×  3.0  =  27,000  →  Top priority for remediation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303520"/>
            <a:ext cx="1143000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349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Calibri"/>
              </a:rPr>
              <a:t>⚠  Why not raw failure count?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6875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Interface A: 500 failures   ·   Low-priority batch CRM sync   ·   Normal period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DE80"/>
                </a:solidFill>
                <a:latin typeface="Calibri"/>
              </a:rPr>
              <a:t>Interface B:     5 failures  ·   Critical Payment Authorization  ·   Month-End Close  →  CoIF wins every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Calibri"/>
              </a:rPr>
              <a:t>PART 3  ·  COIF TRADEOFFS: BASELINE FORMULA  vs  ML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Deterministic vs. Predictive CoIF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577840" cy="5029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5272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BASELINE FORMULA  (Implemented ✅)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188720"/>
            <a:ext cx="5577840" cy="5029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25272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ML MODEL  (Future Roadmap 🚀)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DE80"/>
                </a:solidFill>
                <a:latin typeface="Calibri"/>
              </a:rPr>
              <a:t>Advantages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0312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✅  100% Explainable &amp; auditable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4203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✅  Cold-start — works day one, zero training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8094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✅  Deterministic — same inputs → same 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41985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✅  Business user can verify any score by hand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97763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7171"/>
                </a:solidFill>
                <a:latin typeface="Calibri"/>
              </a:rPr>
              <a:t>Limitations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29768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❌  Static weights — no adaptation to change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73659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❌  Linear — misses cascading failure amplification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17550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❌  Reactive — cannot predict future failures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7830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DE80"/>
                </a:solidFill>
                <a:latin typeface="Calibri"/>
              </a:rPr>
              <a:t>Advantages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10312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✅  Adapts dynamically to shifting business conditions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54203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✅  Models cascading / non-linear impact propagation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98094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✅  Predictive — flags at-risk interfaces before failure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97763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7171"/>
                </a:solidFill>
                <a:latin typeface="Calibri"/>
              </a:rPr>
              <a:t>Limitations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29768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❌  Requires weeks of labelled historical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73659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❌  Black-box — harder to explain to business stakeholders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517550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❌  Higher infrastructure &amp; retraining overhead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989320"/>
            <a:ext cx="11430000" cy="640080"/>
          </a:xfrm>
          <a:prstGeom prst="rect">
            <a:avLst/>
          </a:prstGeom>
          <a:solidFill>
            <a:srgbClr val="1E293B"/>
          </a:solidFill>
          <a:ln w="254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035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💡  Recommended Production Approach: Hybrid — Hardcoded formula for real-time baseline + ML 'Risk Signal' as a separate predictive layer. Explainability of formula + adaptability of ML.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Calibri"/>
              </a:rPr>
              <a:t>PART 4  ·  L2 ADVANCED PIPELINE — IMPLEMENTATION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3-Stage L2 Pipeline: Built, Designed &amp; Roadmapped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3657600" cy="5029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075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Stage 1  ·  ✅ COMPLETE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37360"/>
            <a:ext cx="365760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ADE80"/>
                </a:solidFill>
                <a:latin typeface="Calibri"/>
              </a:rPr>
              <a:t>Detect + Correlate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  <a:latin typeface="Calibri"/>
              </a:rPr>
              <a:t>• Temporal clustering: events on same interface within 5-min window merged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0720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  <a:latin typeface="Calibri"/>
              </a:rPr>
              <a:t>• Error-class clustering: same ErrorCode + RootCauseClass across interfaces merged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74136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  <a:latin typeface="Calibri"/>
              </a:rPr>
              <a:t>• Dependency clustering: events on connected interfaces (per graph) merged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41064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  <a:latin typeface="Calibri"/>
              </a:rPr>
              <a:t>• Algorithm: Union-Find on 3 simultaneous correlation signals → incident groups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234440"/>
            <a:ext cx="3657600" cy="5029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3075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Stage 2  ·  ✅ COMPLETE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737360"/>
            <a:ext cx="365760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7830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ADE80"/>
                </a:solidFill>
                <a:latin typeface="Calibri"/>
              </a:rPr>
              <a:t>RCA — Chronic vs. Event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2402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  <a:latin typeface="Calibri"/>
              </a:rPr>
              <a:t>• Chronic: recurring failures on same interface across multiple time windows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80720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  <a:latin typeface="Calibri"/>
              </a:rPr>
              <a:t>• Event-driven: failure burst correlates with a preceding change_event row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374136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  <a:latin typeface="Calibri"/>
              </a:rPr>
              <a:t>• Evidence-grounded NL Q&amp;A: 8 question types → deterministic pandas queries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941064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  <a:latin typeface="Calibri"/>
              </a:rPr>
              <a:t>• Zero hallucination: LLM routes intent; SQL-like queries return actual rows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234440"/>
            <a:ext cx="3657600" cy="5029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13075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Stage 3  ·  ⏳ DESIGNED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737360"/>
            <a:ext cx="365760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17830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BBF24"/>
                </a:solidFill>
                <a:latin typeface="Calibri"/>
              </a:rPr>
              <a:t>Remediation &amp; Human-in-Loop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2402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  <a:latin typeface="Calibri"/>
              </a:rPr>
              <a:t>• Auto-route incidents to correct L1–L4 queues via escalation_routing.csv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80720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  <a:latin typeface="Calibri"/>
              </a:rPr>
              <a:t>• Prescriptive fix suggestions per RootCauseClass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374136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  <a:latin typeface="Calibri"/>
              </a:rPr>
              <a:t>• Human-in-loop approval for Critical/P1 actions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941064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  <a:latin typeface="Calibri"/>
              </a:rPr>
              <a:t>• Self-learning loop to improve routing accuracy over time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669280"/>
            <a:ext cx="1143000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7424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Calibri"/>
              </a:rPr>
              <a:t>L1 Fully Delivered  →  Ingest · Normalize · CoIF Health Map · Incident Correlation · Evidence NL Q&amp;A · Dependency Graph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0807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Live Streamlit Dashboard running at http://localhost:8501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Calibri"/>
              </a:rPr>
              <a:t>PART 5  ·  FUTURE SCOPE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From Reactive Monitoring to Autonomous Remediation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029200"/>
            <a:ext cx="2560320" cy="1737360"/>
          </a:xfrm>
          <a:prstGeom prst="rect">
            <a:avLst/>
          </a:prstGeom>
          <a:solidFill>
            <a:srgbClr val="1E293B"/>
          </a:solidFill>
          <a:ln w="254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102352"/>
            <a:ext cx="2377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D4BF"/>
                </a:solidFill>
                <a:latin typeface="Calibri"/>
              </a:rPr>
              <a:t>STEP 1 — Reactive  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504688"/>
            <a:ext cx="23774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  <a:latin typeface="Calibri"/>
              </a:rPr>
              <a:t>L1 Complete
CoIF Health Map
NL Q&amp;A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3017520" y="4892040"/>
            <a:ext cx="91440" cy="1005840"/>
          </a:xfrm>
          <a:prstGeom prst="line">
            <a:avLst/>
          </a:prstGeom>
          <a:ln w="3175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200400" y="4023360"/>
            <a:ext cx="2560320" cy="1737360"/>
          </a:xfrm>
          <a:prstGeom prst="rect">
            <a:avLst/>
          </a:prstGeom>
          <a:solidFill>
            <a:srgbClr val="1E293B"/>
          </a:solidFill>
          <a:ln w="254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4096512"/>
            <a:ext cx="2377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DE80"/>
                </a:solidFill>
                <a:latin typeface="Calibri"/>
              </a:rPr>
              <a:t>STEP 2 — Correlated  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4498848"/>
            <a:ext cx="23774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  <a:latin typeface="Calibri"/>
              </a:rPr>
              <a:t>L2 Stage 1+2
Incident Clustering
Chronic vs. Event RCA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5760720" y="3886200"/>
            <a:ext cx="91439" cy="1005840"/>
          </a:xfrm>
          <a:prstGeom prst="line">
            <a:avLst/>
          </a:prstGeom>
          <a:ln w="31750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943600" y="3017520"/>
            <a:ext cx="2560320" cy="1737360"/>
          </a:xfrm>
          <a:prstGeom prst="rect">
            <a:avLst/>
          </a:prstGeom>
          <a:solidFill>
            <a:srgbClr val="1E293B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3090672"/>
            <a:ext cx="2377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Calibri"/>
              </a:rPr>
              <a:t>STEP 3 — Predictive  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3493008"/>
            <a:ext cx="23774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  <a:latin typeface="Calibri"/>
              </a:rPr>
              <a:t>L3 Blast-Radius
Graph Neural Networks
Ranked Risk per Interface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8503920" y="2880360"/>
            <a:ext cx="91440" cy="1005840"/>
          </a:xfrm>
          <a:prstGeom prst="line">
            <a:avLst/>
          </a:prstGeom>
          <a:ln w="3175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8686800" y="2011680"/>
            <a:ext cx="2560320" cy="1737360"/>
          </a:xfrm>
          <a:prstGeom prst="rect">
            <a:avLst/>
          </a:prstGeom>
          <a:solidFill>
            <a:srgbClr val="1E293B"/>
          </a:solidFill>
          <a:ln w="254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0" y="2084832"/>
            <a:ext cx="2377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7171"/>
                </a:solidFill>
                <a:latin typeface="Calibri"/>
              </a:rPr>
              <a:t>STEP 4 — Autonomous  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2487168"/>
            <a:ext cx="23774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  <a:latin typeface="Calibri"/>
              </a:rPr>
              <a:t>Closed-Loop Healing
Auto-Routing L1–L4
Self-Learning Weights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166360"/>
            <a:ext cx="3749039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523036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Calibri"/>
              </a:rPr>
              <a:t>🧠  L3 Blast-Radius Prediction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650992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GNNs on the dependency graph to compute ranked risk
score per interface for any proposed change event.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5166360"/>
            <a:ext cx="3749039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523036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Calibri"/>
              </a:rPr>
              <a:t>🔄  Real-Time Streaming Ingest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5650992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Replace batch CSV ingestion with Kafka consumer streams.
Health Map updates within seconds of new failure events.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5166360"/>
            <a:ext cx="3749039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523036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Calibri"/>
              </a:rPr>
              <a:t>🤖  Closed-Loop Remediation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5650992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Auto-route incidents to L1–L4 queues via escalation
routing table with human-in-loop for Critical actions.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